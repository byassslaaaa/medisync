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3A8A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563EB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2563EB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548640" cy="6858000"/>
          </a:xfrm>
          <a:prstGeom prst="rect">
            <a:avLst/>
          </a:prstGeom>
          <a:solidFill>
            <a:srgbClr val="2563EB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371600"/>
            <a:ext cx="91440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 i="0">
                <a:solidFill>
                  <a:srgbClr val="FFFFFF"/>
                </a:solidFill>
              </a:rPr>
              <a:t>🏥  MediSync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651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93C5FD"/>
                </a:solidFill>
              </a:rPr>
              <a:t>Implementasi Komunikasi Microservices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2461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BFDBFE"/>
                </a:solidFill>
              </a:rPr>
              <a:t>Sistem Informasi Rumah Sakit berbasis gRPC &amp; RabbitMQ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0" y="3840480"/>
            <a:ext cx="7315200" cy="36576"/>
          </a:xfrm>
          <a:prstGeom prst="rect">
            <a:avLst/>
          </a:prstGeom>
          <a:solidFill>
            <a:srgbClr val="2563EB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40233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Mata Kuliah  :  Jaringan Komputer Terapan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3891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Dosen          :  Danur Wijayanto, S.Kom. M.Cs.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7548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Semester     :  Genap 2025/2026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0" y="1371600"/>
            <a:ext cx="3840480" cy="3840480"/>
          </a:xfrm>
          <a:prstGeom prst="rect">
            <a:avLst/>
          </a:prstGeom>
          <a:solidFill>
            <a:srgbClr val="1E409A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09560" y="1508760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7DD3FC"/>
                </a:solidFill>
              </a:rPr>
              <a:t>Anggota Kelompok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09560" y="1920240"/>
            <a:ext cx="356616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1.  Irsyad Winarko
     2311501038
2.  Melati Ayu Salsabilla
     2311501014
3.  [Nama Anggota 3]
     [NIM]
4.  [Nama Anggota 4]
     [NIM]
5.  [Nama Anggota 5]
     [NIM]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3F4F6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E3A8A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457200" cy="1280160"/>
          </a:xfrm>
          <a:prstGeom prst="rect">
            <a:avLst/>
          </a:prstGeom>
          <a:solidFill>
            <a:srgbClr val="2563EB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9144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3C5FD"/>
                </a:solidFill>
              </a:rPr>
              <a:t>BAB 1 — PENDAHULUAN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1148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Latar Belakang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463040"/>
            <a:ext cx="5303520" cy="1828800"/>
          </a:xfrm>
          <a:prstGeom prst="rect">
            <a:avLst/>
          </a:prstGeom>
          <a:solidFill>
            <a:srgbClr val="FEE2E2"/>
          </a:solidFill>
          <a:ln w="1905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536192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DC2626"/>
                </a:solidFill>
              </a:rPr>
              <a:t>⚠️  Masalah: Sistem Monolith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828800"/>
            <a:ext cx="5029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74151"/>
                </a:solidFill>
              </a:rPr>
              <a:t>• Satu aplikasi besar → jika 1 bagian error, semua ikut down
• Tight coupling: modul saling bergantung secara langsung
• Bottleneck: semua traffic ke satu titik
• Sulit di-update sebagian → harus restart semua
• Tim besar sulit berkolaborasi pada 1 codebase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0" y="1463040"/>
            <a:ext cx="5852160" cy="1828800"/>
          </a:xfrm>
          <a:prstGeom prst="rect">
            <a:avLst/>
          </a:prstGeom>
          <a:solidFill>
            <a:srgbClr val="DCFCE7"/>
          </a:solidFill>
          <a:ln w="1905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080760" y="1536192"/>
            <a:ext cx="5577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6A34A"/>
                </a:solidFill>
              </a:rPr>
              <a:t>✅  Solusi: Arsitektur Microservices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80760" y="1828800"/>
            <a:ext cx="55778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74151"/>
                </a:solidFill>
              </a:rPr>
              <a:t>• Setiap layanan berdiri mandiri, punya database sendiri
• Failure isolation: 1 service down ≠ seluruh sistem down
• Skalabilitas per-service: scale hanya yang perlu
• Tim berbeda bisa mengerjakan service berbeda secara paralel
• Komunikasi via gRPC (sync) &amp; Message Queue (async)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3429000"/>
            <a:ext cx="11430000" cy="1371600"/>
          </a:xfrm>
          <a:prstGeom prst="rect">
            <a:avLst/>
          </a:prstGeom>
          <a:solidFill>
            <a:srgbClr val="DBEAFE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3502152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3A8A"/>
                </a:solidFill>
              </a:rPr>
              <a:t>🏥  Konteks: Sistem Informasi Rumah Sakit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3794760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74151"/>
                </a:solidFill>
              </a:rPr>
              <a:t>RS modern memiliki banyak layanan: Pendaftaran, Rekam Medis, Apotek, Billing, dll.
Kebutuhan: setiap layanan harus bisa dikembangkan dan di-deploy secara independen.
Solusi: Microservices dengan komunikasi terstandarisasi menggunakan gRPC dan RabbitMQ.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E3A8A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4320" y="6556248"/>
            <a:ext cx="116403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DBEAFE"/>
                </a:solidFill>
              </a:rPr>
              <a:t>MediSync • Jaringan Komputer Terapan 2025/2026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3F4F6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E3A8A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457200" cy="1280160"/>
          </a:xfrm>
          <a:prstGeom prst="rect">
            <a:avLst/>
          </a:prstGeom>
          <a:solidFill>
            <a:srgbClr val="2563EB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9144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3C5FD"/>
                </a:solidFill>
              </a:rPr>
              <a:t>BAB 1 — PENDAHULUAN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1148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Rumusan Masalah &amp; Tujuan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463040"/>
            <a:ext cx="5303520" cy="3200400"/>
          </a:xfrm>
          <a:prstGeom prst="rect">
            <a:avLst/>
          </a:prstGeom>
          <a:solidFill>
            <a:srgbClr val="DBEAFE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536192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3A8A"/>
                </a:solidFill>
              </a:rPr>
              <a:t>❓  Rumusan Masalah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828800"/>
            <a:ext cx="5029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74151"/>
                </a:solidFill>
              </a:rPr>
              <a:t>1.  Bagaimana merancang sistem informasi RS yang
     bebas dari tight coupling antar layanan?
2.  Bagaimana mengimplementasikan komunikasi
     synchronous real-time antar-service menggunakan gRPC?
3.  Bagaimana menjamin pengiriman event antar-service
     walaupun salah satu service sedang down?
4.  Bagaimana memastikan database isolation
     antar-service tetap terjaga?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0" y="1463040"/>
            <a:ext cx="5852160" cy="3200400"/>
          </a:xfrm>
          <a:prstGeom prst="rect">
            <a:avLst/>
          </a:prstGeom>
          <a:solidFill>
            <a:srgbClr val="DCFCE7"/>
          </a:solidFill>
          <a:ln w="1905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080760" y="1536192"/>
            <a:ext cx="5577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6A34A"/>
                </a:solidFill>
              </a:rPr>
              <a:t>🎯  Tujuan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80760" y="1828800"/>
            <a:ext cx="55778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74151"/>
                </a:solidFill>
              </a:rPr>
              <a:t>1.  Merancang arsitektur microservices untuk
     sistem informasi RS sederhana
2.  Mengimplementasikan gRPC sebagai mekanisme
     komunikasi synchronous antar-service
3.  Mengimplementasikan RabbitMQ sebagai message
     broker untuk komunikasi asynchronous
4.  Menerapkan prinsip database isolation:
     setiap service memiliki database mandiri
5.  Mendemokan sistem end-to-end yang berjalan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E3A8A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4320" y="6556248"/>
            <a:ext cx="116403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DBEAFE"/>
                </a:solidFill>
              </a:rPr>
              <a:t>MediSync • Jaringan Komputer Terapan 2025/2026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3F4F6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E3A8A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457200" cy="1280160"/>
          </a:xfrm>
          <a:prstGeom prst="rect">
            <a:avLst/>
          </a:prstGeom>
          <a:solidFill>
            <a:srgbClr val="2563EB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9144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3C5FD"/>
                </a:solidFill>
              </a:rPr>
              <a:t>BAB 2 — TINJAUAN PUSTAKA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1148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Microservices vs Monolith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417320"/>
            <a:ext cx="5303520" cy="2011680"/>
          </a:xfrm>
          <a:prstGeom prst="rect">
            <a:avLst/>
          </a:prstGeom>
          <a:solidFill>
            <a:srgbClr val="FEE2E2"/>
          </a:solidFill>
          <a:ln w="1905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490472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DC2626"/>
                </a:solidFill>
              </a:rPr>
              <a:t>🧱  Monolith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783080"/>
            <a:ext cx="50292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74151"/>
                </a:solidFill>
              </a:rPr>
              <a:t>• Satu codebase, satu proses, satu database
• Semua modul saling terhubung langsung
• Deploy = restart seluruh aplikasi
• Scale = scale semua, meski hanya 1 bagian yang sibuk
• Satu bug bisa crash keseluruhan sistem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0" y="1417320"/>
            <a:ext cx="5852160" cy="2011680"/>
          </a:xfrm>
          <a:prstGeom prst="rect">
            <a:avLst/>
          </a:prstGeom>
          <a:solidFill>
            <a:srgbClr val="DCFCE7"/>
          </a:solidFill>
          <a:ln w="1905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080760" y="1490472"/>
            <a:ext cx="5577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6A34A"/>
                </a:solidFill>
              </a:rPr>
              <a:t>🔩  Microservices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80760" y="1783080"/>
            <a:ext cx="55778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74151"/>
                </a:solidFill>
              </a:rPr>
              <a:t>• Banyak service kecil, masing-masing punya DB sendiri
• Komunikasi via API/protokol jaringan
• Deploy per-service, tidak perlu restart semua
• Scale per-service sesuai kebutuhan
• Failure isolation: 1 service error ≠ sistem mati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3566160"/>
            <a:ext cx="11430000" cy="320040"/>
          </a:xfrm>
          <a:prstGeom prst="rect">
            <a:avLst/>
          </a:prstGeom>
          <a:solidFill>
            <a:srgbClr val="1E3A8A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356616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Aspek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91840" y="3566160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Monolith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23760" y="356616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Microservices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3886200"/>
            <a:ext cx="1143000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F3F4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3922776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74151"/>
                </a:solidFill>
              </a:rPr>
              <a:t>Skalabilitas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91840" y="3922776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74151"/>
                </a:solidFill>
              </a:rPr>
              <a:t>Seluruh aplikasi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23760" y="3922776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6A34A"/>
                </a:solidFill>
              </a:rPr>
              <a:t>✓ Per-service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4270248"/>
            <a:ext cx="11430000" cy="384048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4306824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74151"/>
                </a:solidFill>
              </a:rPr>
              <a:t>Database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91840" y="4306824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74151"/>
                </a:solidFill>
              </a:rPr>
              <a:t>Satu, dibagi semua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23760" y="4306824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6A34A"/>
                </a:solidFill>
              </a:rPr>
              <a:t>✓ Terpisah per-service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4654296"/>
            <a:ext cx="1143000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F3F4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" y="4690872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74151"/>
                </a:solidFill>
              </a:rPr>
              <a:t>Deploy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291840" y="4690872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74151"/>
                </a:solidFill>
              </a:rPr>
              <a:t>Semua sekaligus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223760" y="4690872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6A34A"/>
                </a:solidFill>
              </a:rPr>
              <a:t>✓ Independen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65760" y="5038344"/>
            <a:ext cx="11430000" cy="384048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7200" y="507492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74151"/>
                </a:solidFill>
              </a:rPr>
              <a:t>Fault isolation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291840" y="5074920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74151"/>
                </a:solidFill>
              </a:rPr>
              <a:t>Tidak ada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223760" y="50749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6A34A"/>
                </a:solidFill>
              </a:rPr>
              <a:t>✓ Ada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5422392"/>
            <a:ext cx="1143000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F3F4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57200" y="5458968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74151"/>
                </a:solidFill>
              </a:rPr>
              <a:t>Tim besar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291840" y="5458968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74151"/>
                </a:solidFill>
              </a:rPr>
              <a:t>Sulit, sering konflik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23760" y="5458968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6A34A"/>
                </a:solidFill>
              </a:rPr>
              <a:t>✓ Mudah dibagi</a:t>
            </a:r>
          </a:p>
        </p:txBody>
      </p:sp>
      <p:sp>
        <p:nvSpPr>
          <p:cNvPr id="37" name="Rectangle 36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E3A8A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74320" y="6556248"/>
            <a:ext cx="116403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DBEAFE"/>
                </a:solidFill>
              </a:rPr>
              <a:t>MediSync • Jaringan Komputer Terapan 2025/2026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3F4F6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E3A8A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457200" cy="1280160"/>
          </a:xfrm>
          <a:prstGeom prst="rect">
            <a:avLst/>
          </a:prstGeom>
          <a:solidFill>
            <a:srgbClr val="2563EB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9144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3C5FD"/>
                </a:solidFill>
              </a:rPr>
              <a:t>BAB 2 — TINJAUAN PUSTAKA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1148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gRPC — Google Remote Procedure Call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417320"/>
            <a:ext cx="5486400" cy="2286000"/>
          </a:xfrm>
          <a:prstGeom prst="rect">
            <a:avLst/>
          </a:prstGeom>
          <a:solidFill>
            <a:srgbClr val="DBEAFE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490472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3A8A"/>
                </a:solidFill>
              </a:rPr>
              <a:t>📖  Definisi &amp; Cara Kerja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783080"/>
            <a:ext cx="52120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74151"/>
                </a:solidFill>
              </a:rPr>
              <a:t>Framework komunikasi yang memungkinkan satu service
memanggil fungsi di service lain seperti memanggil
fungsi lokal (Remote Procedure Call).
Cara kerja:
1. Definisikan kontrak di file .proto
2. Generate kode otomatis (stub/skeleton)
3. Client memanggil method → dikirim via HTTP/2
4. Server memproses → kembalikan response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26480" y="1417320"/>
            <a:ext cx="5486400" cy="2286000"/>
          </a:xfrm>
          <a:prstGeom prst="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63640" y="1490472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D97706"/>
                </a:solidFill>
              </a:rPr>
              <a:t>⚡  Keunggulan gRPC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63640" y="1783080"/>
            <a:ext cx="52120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74151"/>
                </a:solidFill>
              </a:rPr>
              <a:t>• Protocol Buffers: data lebih kecil ~5x vs JSON
• HTTP/2: multiplexing, header compression
• Strongly-typed: schema ketat via .proto
• Low latency: cocok untuk internal service comm.
• Language-agnostic: support banyak bahasa
• Contract-First: definisikan .proto sebelum code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3840480"/>
            <a:ext cx="5303520" cy="2286000"/>
          </a:xfrm>
          <a:prstGeom prst="rect">
            <a:avLst/>
          </a:prstGeom>
          <a:solidFill>
            <a:srgbClr val="F8FAFC"/>
          </a:solidFill>
          <a:ln w="19050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3913632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3A8A"/>
                </a:solidFill>
              </a:rPr>
              <a:t>📄  Contoh file .proto (MediSync)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420624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74151"/>
                </a:solidFill>
              </a:rPr>
              <a:t>syntax = "proto3";
package medicalrecord;
service MedicalRecordService {
  rpc CheckPatientRecord
    (PatientRequest) returns (RecordResponse);
}
message PatientRequest { string nik = 1; }
message RecordResponse {
  bool has_record = 1;
  string record_id = 2; }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26480" y="3840480"/>
            <a:ext cx="5486400" cy="2286000"/>
          </a:xfrm>
          <a:prstGeom prst="rect">
            <a:avLst/>
          </a:prstGeom>
          <a:solidFill>
            <a:srgbClr val="DCFCE7"/>
          </a:solidFill>
          <a:ln w="1905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63640" y="3913632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6A34A"/>
                </a:solidFill>
              </a:rPr>
              <a:t>🎯  Kapan Pakai gRPC di MediSync?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63640" y="4206240"/>
            <a:ext cx="52120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74151"/>
                </a:solidFill>
              </a:rPr>
              <a:t>Skenario: Service A perlu tahu APAKAH pasien sudah
memiliki rekam medis SEBELUM mendaftarkan.
→ Harus SYNCHRONOUS: Service A menunggu jawaban
→ Jawaban dipakai untuk keputusan di step berikutnya
Call: CheckPatientRecord(nik)
Response: { has_record: bool, record_id: string }
Jika has_record = true → tolak pendaftaran
Jika has_record = false → lanjut proses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E3A8A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74320" y="6556248"/>
            <a:ext cx="116403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DBEAFE"/>
                </a:solidFill>
              </a:rPr>
              <a:t>MediSync • Jaringan Komputer Terapan 2025/2026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3F4F6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E3A8A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457200" cy="1280160"/>
          </a:xfrm>
          <a:prstGeom prst="rect">
            <a:avLst/>
          </a:prstGeom>
          <a:solidFill>
            <a:srgbClr val="2563EB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9144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3C5FD"/>
                </a:solidFill>
              </a:rPr>
              <a:t>BAB 2 — TINJAUAN PUSTAKA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1148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Message Queue — RabbitMQ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417320"/>
            <a:ext cx="5486400" cy="2194560"/>
          </a:xfrm>
          <a:prstGeom prst="rect">
            <a:avLst/>
          </a:prstGeom>
          <a:solidFill>
            <a:srgbClr val="FEE2E2"/>
          </a:solidFill>
          <a:ln w="1905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490472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DC2626"/>
                </a:solidFill>
              </a:rPr>
              <a:t>📖  Definisi &amp; Konsep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783080"/>
            <a:ext cx="52120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74151"/>
                </a:solidFill>
              </a:rPr>
              <a:t>Sistem antrian pesan yang memungkinkan service
mengirim data tanpa harus menunggu penerima
selesai memproses (fire and forget).
Komponen utama:
• Producer  → pengirim pesan (Service A)
• Exchange  → router pesan ke queue yang tepat
• Queue     → antrian penyimpanan pesan
• Consumer  → penerima pesan (Service B)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26480" y="1417320"/>
            <a:ext cx="5486400" cy="2194560"/>
          </a:xfrm>
          <a:prstGeom prst="rect">
            <a:avLst/>
          </a:prstGeom>
          <a:solidFill>
            <a:srgbClr val="EDE9FE"/>
          </a:solidFill>
          <a:ln w="19050">
            <a:solidFill>
              <a:srgbClr val="9673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63640" y="1490472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9673A6"/>
                </a:solidFill>
              </a:rPr>
              <a:t>⚡  Keunggulan RabbitMQ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63640" y="1783080"/>
            <a:ext cx="52120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74151"/>
                </a:solidFill>
              </a:rPr>
              <a:t>• Non-blocking: Service A tidak tunggu Service B
• Guaranteed delivery: pesan aman di queue
  meski consumer offline/restart
• Decoupled: producer tidak tahu siapa consumer
• Persistent message: tidak hilang jika broker restart
• Scalable: bisa banyak consumer paralel
• Acknowledgement: konfirmasi pesan sudah diproses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3749039"/>
            <a:ext cx="1143000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F3F4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379476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3A8A"/>
                </a:solidFill>
              </a:rPr>
              <a:t>Alur MQ di MediSync: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4160520"/>
            <a:ext cx="1920240" cy="777240"/>
          </a:xfrm>
          <a:prstGeom prst="rect">
            <a:avLst/>
          </a:prstGeom>
          <a:solidFill>
            <a:srgbClr val="DCFCE7"/>
          </a:solidFill>
          <a:ln w="1905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4187952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6A34A"/>
                </a:solidFill>
              </a:rPr>
              <a:t>Service A
(Producer)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560320" y="4160520"/>
            <a:ext cx="1920240" cy="777240"/>
          </a:xfrm>
          <a:prstGeom prst="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606040" y="4187952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D97706"/>
                </a:solidFill>
              </a:rPr>
              <a:t>Exchange
hospital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0" y="4160520"/>
            <a:ext cx="1920240" cy="777240"/>
          </a:xfrm>
          <a:prstGeom prst="rect">
            <a:avLst/>
          </a:prstGeom>
          <a:solidFill>
            <a:srgbClr val="FEE2E2"/>
          </a:solidFill>
          <a:ln w="1905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617720" y="4187952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DC2626"/>
                </a:solidFill>
              </a:rPr>
              <a:t>Queue
patient.queue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83680" y="4160520"/>
            <a:ext cx="1920240" cy="777240"/>
          </a:xfrm>
          <a:prstGeom prst="rect">
            <a:avLst/>
          </a:prstGeom>
          <a:solidFill>
            <a:srgbClr val="EDE9FE"/>
          </a:solidFill>
          <a:ln w="19050">
            <a:solidFill>
              <a:srgbClr val="9673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29400" y="4187952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9673A6"/>
                </a:solidFill>
              </a:rPr>
              <a:t>Service B
(Consumer)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595360" y="4160520"/>
            <a:ext cx="1920240" cy="777240"/>
          </a:xfrm>
          <a:prstGeom prst="rect">
            <a:avLst/>
          </a:prstGeom>
          <a:solidFill>
            <a:srgbClr val="DBEAFE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641080" y="4187952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2563EB"/>
                </a:solidFill>
              </a:rPr>
              <a:t>db_rekam_medis
(INSERT draft)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487168" y="4343400"/>
            <a:ext cx="22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6B7280"/>
                </a:solidFill>
              </a:rPr>
              <a:t>→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98848" y="4343400"/>
            <a:ext cx="22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6B7280"/>
                </a:solidFill>
              </a:rPr>
              <a:t>→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10528" y="4343400"/>
            <a:ext cx="22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6B7280"/>
                </a:solidFill>
              </a:rPr>
              <a:t>→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22208" y="4343400"/>
            <a:ext cx="22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6B7280"/>
                </a:solidFill>
              </a:rPr>
              <a:t>→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65760" y="5212080"/>
            <a:ext cx="11430000" cy="1005840"/>
          </a:xfrm>
          <a:prstGeom prst="rect">
            <a:avLst/>
          </a:prstGeom>
          <a:solidFill>
            <a:srgbClr val="FEE2E2"/>
          </a:solidFill>
          <a:ln w="1905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02920" y="5285232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DC2626"/>
                </a:solidFill>
              </a:rPr>
              <a:t>🎯  Kapan Pakai RabbitMQ di MediSync?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" y="5577840"/>
            <a:ext cx="11155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74151"/>
                </a:solidFill>
              </a:rPr>
              <a:t>Setelah pasien berhasil disimpan di db_pendaftaran, Service A publish event 'patient.registered' ke RabbitMQ.
Service B consume event ini di background dan membuat draft rekam medis di db_rekam_medis.
Service A TIDAK perlu menunggu Service B selesai → response ke user lebih cepat.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E3A8A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74320" y="6556248"/>
            <a:ext cx="116403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DBEAFE"/>
                </a:solidFill>
              </a:rPr>
              <a:t>MediSync • Jaringan Komputer Terapan 2025/2026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3F4F6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E3A8A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457200" cy="1280160"/>
          </a:xfrm>
          <a:prstGeom prst="rect">
            <a:avLst/>
          </a:prstGeom>
          <a:solidFill>
            <a:srgbClr val="2563EB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9144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3C5FD"/>
                </a:solidFill>
              </a:rPr>
              <a:t>BAB 3 — ANALISIS &amp; PERANCANGAN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1148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Pemilihan &amp; Justifikasi Teknologi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417320"/>
            <a:ext cx="3794760" cy="2286000"/>
          </a:xfrm>
          <a:prstGeom prst="rect">
            <a:avLst/>
          </a:prstGeom>
          <a:solidFill>
            <a:srgbClr val="DCFCE7"/>
          </a:solidFill>
          <a:ln w="1905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490472"/>
            <a:ext cx="3520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6A34A"/>
                </a:solidFill>
              </a:rPr>
              <a:t>⚡ Go + Gin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783080"/>
            <a:ext cx="35204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74151"/>
                </a:solidFill>
              </a:rPr>
              <a:t>• Goroutine: concurrency bawaan, ideal untuk microservices
• Binary native: startup cepat, performa tinggi
• gRPC paling 'native' di Go (dibuat Google)
• Statically typed → error saat compile, bukan runtime
• Gin: router HTTP ringan dan cepat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7679" y="1417320"/>
            <a:ext cx="3794760" cy="2286000"/>
          </a:xfrm>
          <a:prstGeom prst="rect">
            <a:avLst/>
          </a:prstGeom>
          <a:solidFill>
            <a:srgbClr val="DBEAFE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34839" y="1490472"/>
            <a:ext cx="3520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3A8A"/>
                </a:solidFill>
              </a:rPr>
              <a:t>🗄️ PostgreSQL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34839" y="1783080"/>
            <a:ext cx="35204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74151"/>
                </a:solidFill>
              </a:rPr>
              <a:t>• Dua database terpisah: db_pendaftaran &amp; db_rekam_medis
• ACID compliance: konsistensi data terjamin
• Satu jenis DB → tim tidak perlu belajar dua teknologi
• Query powerful untuk data relasional pasien
• Mature dan production-ready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75318" y="1417320"/>
            <a:ext cx="3794760" cy="2286000"/>
          </a:xfrm>
          <a:prstGeom prst="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78" y="1490472"/>
            <a:ext cx="3520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D97706"/>
                </a:solidFill>
              </a:rPr>
              <a:t>🔗 gRPC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78" y="1783080"/>
            <a:ext cx="35204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74151"/>
                </a:solidFill>
              </a:rPr>
              <a:t>• Protocol Buffers: efisien, strongly-typed
• Contract-First via .proto: kontrak antar service jelas
• HTTP/2: lebih efisien dari REST untuk internal call
• Dipakai saat validasi real-time (sync) dibutuhkan
• Go + gRPC: kombinasi paling umum di industri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3840480"/>
            <a:ext cx="3794760" cy="2286000"/>
          </a:xfrm>
          <a:prstGeom prst="rect">
            <a:avLst/>
          </a:prstGeom>
          <a:solidFill>
            <a:srgbClr val="FEE2E2"/>
          </a:solidFill>
          <a:ln w="1905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3913632"/>
            <a:ext cx="3520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DC2626"/>
                </a:solidFill>
              </a:rPr>
              <a:t>📨 RabbitMQ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4206240"/>
            <a:ext cx="35204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74151"/>
                </a:solidFill>
              </a:rPr>
              <a:t>• Pesan aman di queue meski consumer offline
• Decoupling sempurna: producer tidak tahu consumer
• Persistent delivery: tidak hilang saat restart
• Lebih simpel dari Kafka untuk skala proyek ini
• Management UI: mudah monitor queue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97679" y="3840480"/>
            <a:ext cx="3794760" cy="2286000"/>
          </a:xfrm>
          <a:prstGeom prst="rect">
            <a:avLst/>
          </a:prstGeom>
          <a:solidFill>
            <a:srgbClr val="EDE9FE"/>
          </a:solidFill>
          <a:ln w="19050">
            <a:solidFill>
              <a:srgbClr val="9673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434839" y="3913632"/>
            <a:ext cx="3520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9673A6"/>
                </a:solidFill>
              </a:rPr>
              <a:t>🐳 Docker Compose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34839" y="4206240"/>
            <a:ext cx="35204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74151"/>
                </a:solidFill>
              </a:rPr>
              <a:t>• Satu perintah: docker-compose up --build
• Setiap service dalam container terisolasi
• Network internal antar container otomatis
• Mudah dijalankan di laptop manapun tanpa install manual
• Health check: service saling menunggu dengan benar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E3A8A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74320" y="6556248"/>
            <a:ext cx="116403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DBEAFE"/>
                </a:solidFill>
              </a:rPr>
              <a:t>MediSync • Jaringan Komputer Terapan 2025/2026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3F4F6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E3A8A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457200" cy="1280160"/>
          </a:xfrm>
          <a:prstGeom prst="rect">
            <a:avLst/>
          </a:prstGeom>
          <a:solidFill>
            <a:srgbClr val="2563EB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9144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3C5FD"/>
                </a:solidFill>
              </a:rPr>
              <a:t>BAB 3 — ANALISIS &amp; PERANCANGAN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1148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Arsitektur Sistem Microservices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371600"/>
            <a:ext cx="11612880" cy="4754880"/>
          </a:xfrm>
          <a:prstGeom prst="rect">
            <a:avLst/>
          </a:prstGeom>
          <a:solidFill>
            <a:srgbClr val="F8FA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3716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2563EB"/>
                </a:solidFill>
              </a:rPr>
              <a:t>Docker Network: medisync-net</a:t>
            </a:r>
          </a:p>
        </p:txBody>
      </p:sp>
      <p:sp>
        <p:nvSpPr>
          <p:cNvPr id="9" name="Rectangle 8"/>
          <p:cNvSpPr/>
          <p:nvPr/>
        </p:nvSpPr>
        <p:spPr>
          <a:xfrm>
            <a:off x="4389120" y="1600200"/>
            <a:ext cx="3291840" cy="777240"/>
          </a:xfrm>
          <a:prstGeom prst="rect">
            <a:avLst/>
          </a:prstGeom>
          <a:solidFill>
            <a:srgbClr val="DBEAFE"/>
          </a:solidFill>
          <a:ln w="254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80560" y="1645920"/>
            <a:ext cx="31089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E3A8A"/>
                </a:solidFill>
              </a:rPr>
              <a:t>FRONTEND
React + Vite  |  Port 3000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86000" y="228600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2563EB"/>
                </a:solidFill>
              </a:rPr>
              <a:t>REST API
HTTP POST/GET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926080"/>
            <a:ext cx="4389120" cy="1463040"/>
          </a:xfrm>
          <a:prstGeom prst="rect">
            <a:avLst/>
          </a:prstGeom>
          <a:solidFill>
            <a:srgbClr val="DCFCE7"/>
          </a:solidFill>
          <a:ln w="2540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2971800"/>
            <a:ext cx="4206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6A34A"/>
                </a:solidFill>
              </a:rPr>
              <a:t>SERVICE A — Pendaftaran
Go + Gin  |  Port 4001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3429000"/>
            <a:ext cx="114300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3456432"/>
            <a:ext cx="1051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6A34A"/>
                </a:solidFill>
              </a:rPr>
              <a:t>REST Handler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828800" y="3429000"/>
            <a:ext cx="114300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874520" y="3456432"/>
            <a:ext cx="1051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6A34A"/>
                </a:solidFill>
              </a:rPr>
              <a:t>gRPC Client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108960" y="3429000"/>
            <a:ext cx="114300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154680" y="3456432"/>
            <a:ext cx="1051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6A34A"/>
                </a:solidFill>
              </a:rPr>
              <a:t>MQ Producer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4663440"/>
            <a:ext cx="2286000" cy="868680"/>
          </a:xfrm>
          <a:prstGeom prst="rect">
            <a:avLst/>
          </a:prstGeom>
          <a:solidFill>
            <a:srgbClr val="DCFCE7"/>
          </a:solidFill>
          <a:ln w="1905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" y="4709160"/>
            <a:ext cx="21945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16A34A"/>
                </a:solidFill>
              </a:rPr>
              <a:t>PostgreSQL
db_pendaftaran
tabel: patients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223760" y="2926080"/>
            <a:ext cx="4389120" cy="1463040"/>
          </a:xfrm>
          <a:prstGeom prst="rect">
            <a:avLst/>
          </a:prstGeom>
          <a:solidFill>
            <a:srgbClr val="EDE9FE"/>
          </a:solidFill>
          <a:ln w="25400">
            <a:solidFill>
              <a:srgbClr val="9673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0" y="2971800"/>
            <a:ext cx="4206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9673A6"/>
                </a:solidFill>
              </a:rPr>
              <a:t>SERVICE B — Rekam Medis
Go + Gin  |  Port 4002  |  gRPC Port 50052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15200" y="3429000"/>
            <a:ext cx="114300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9673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60920" y="3456432"/>
            <a:ext cx="1051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673A6"/>
                </a:solidFill>
              </a:rPr>
              <a:t>gRPC Server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595360" y="3429000"/>
            <a:ext cx="114300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9673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641080" y="3456432"/>
            <a:ext cx="1051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673A6"/>
                </a:solidFill>
              </a:rPr>
              <a:t>MQ Consumer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875520" y="3429000"/>
            <a:ext cx="114300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9673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921240" y="3456432"/>
            <a:ext cx="1051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673A6"/>
                </a:solidFill>
              </a:rPr>
              <a:t>REST Handler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235440" y="4663440"/>
            <a:ext cx="2377440" cy="868680"/>
          </a:xfrm>
          <a:prstGeom prst="rect">
            <a:avLst/>
          </a:prstGeom>
          <a:solidFill>
            <a:srgbClr val="EDE9FE"/>
          </a:solidFill>
          <a:ln w="19050">
            <a:solidFill>
              <a:srgbClr val="9673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281160" y="4709160"/>
            <a:ext cx="2286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9673A6"/>
                </a:solidFill>
              </a:rPr>
              <a:t>PostgreSQL
db_rekam_medis
tabel: medical_records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029200" y="3200400"/>
            <a:ext cx="2011680" cy="1188720"/>
          </a:xfrm>
          <a:prstGeom prst="rect">
            <a:avLst/>
          </a:prstGeom>
          <a:solidFill>
            <a:srgbClr val="FEE2E2"/>
          </a:solidFill>
          <a:ln w="254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074920" y="3246120"/>
            <a:ext cx="19202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DC2626"/>
                </a:solidFill>
              </a:rPr>
              <a:t>RabbitMQ
Port 5672
Queue: patient.queue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983480" y="2514600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D97706"/>
                </a:solidFill>
              </a:rPr>
              <a:t>gRPC
(Sync)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29200" y="4480560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DC2626"/>
                </a:solidFill>
              </a:rPr>
              <a:t>Publish
(Async)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949440" y="4480560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DC2626"/>
                </a:solidFill>
              </a:rPr>
              <a:t>Consume
(Async)</a:t>
            </a:r>
          </a:p>
        </p:txBody>
      </p:sp>
      <p:sp>
        <p:nvSpPr>
          <p:cNvPr id="37" name="Rectangle 36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E3A8A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74320" y="6556248"/>
            <a:ext cx="116403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DBEAFE"/>
                </a:solidFill>
              </a:rPr>
              <a:t>MediSync • Jaringan Komputer Terapan 2025/2026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3F4F6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E3A8A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457200" cy="1280160"/>
          </a:xfrm>
          <a:prstGeom prst="rect">
            <a:avLst/>
          </a:prstGeom>
          <a:solidFill>
            <a:srgbClr val="2563EB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9144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3C5FD"/>
                </a:solidFill>
              </a:rPr>
              <a:t>BAB 3 — ANALISIS &amp; PERANCANGAN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1148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Alur Data — Pendaftaran Pasien Baru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417320"/>
            <a:ext cx="2834640" cy="2148840"/>
          </a:xfrm>
          <a:prstGeom prst="rect">
            <a:avLst/>
          </a:prstGeom>
          <a:solidFill>
            <a:srgbClr val="DBEAFE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1417320"/>
            <a:ext cx="411480" cy="411480"/>
          </a:xfrm>
          <a:prstGeom prst="rect">
            <a:avLst/>
          </a:prstGeom>
          <a:solidFill>
            <a:srgbClr val="2563EB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1444752"/>
            <a:ext cx="411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146304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563EB"/>
                </a:solidFill>
              </a:rPr>
              <a:t>User Isi Form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1965960"/>
            <a:ext cx="26517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74151"/>
                </a:solidFill>
              </a:rPr>
              <a:t>User input Nama, NIK, Tanggal Lahir di Frontend React dan klik tombol 'Daftarkan Pasien'.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46120" y="1417320"/>
            <a:ext cx="2834640" cy="2148840"/>
          </a:xfrm>
          <a:prstGeom prst="rect">
            <a:avLst/>
          </a:prstGeom>
          <a:solidFill>
            <a:srgbClr val="DBEAFE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246120" y="1417320"/>
            <a:ext cx="411480" cy="411480"/>
          </a:xfrm>
          <a:prstGeom prst="rect">
            <a:avLst/>
          </a:prstGeom>
          <a:solidFill>
            <a:srgbClr val="2563EB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46120" y="1444752"/>
            <a:ext cx="411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03320" y="146304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563EB"/>
                </a:solidFill>
              </a:rPr>
              <a:t>POST /api/patients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37560" y="1965960"/>
            <a:ext cx="26517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74151"/>
                </a:solidFill>
              </a:rPr>
              <a:t>Frontend kirim HTTP POST ke Service A (port 4001). Payload JSON berisi data pasien.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17920" y="1417320"/>
            <a:ext cx="2834640" cy="2148840"/>
          </a:xfrm>
          <a:prstGeom prst="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17920" y="1417320"/>
            <a:ext cx="411480" cy="411480"/>
          </a:xfrm>
          <a:prstGeom prst="rect">
            <a:avLst/>
          </a:prstGeom>
          <a:solidFill>
            <a:srgbClr val="D97706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17920" y="1444752"/>
            <a:ext cx="411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75120" y="146304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D97706"/>
                </a:solidFill>
              </a:rPr>
              <a:t>gRPC: CheckPatientRecord(nik) — SYNC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09360" y="1965960"/>
            <a:ext cx="26517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74151"/>
                </a:solidFill>
              </a:rPr>
              <a:t>Service A memanggil Service B via gRPC. Service A MENUNGGU respons sebelum lanjut.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189720" y="1417320"/>
            <a:ext cx="2834640" cy="2148840"/>
          </a:xfrm>
          <a:prstGeom prst="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189720" y="1417320"/>
            <a:ext cx="411480" cy="411480"/>
          </a:xfrm>
          <a:prstGeom prst="rect">
            <a:avLst/>
          </a:prstGeom>
          <a:solidFill>
            <a:srgbClr val="D97706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89720" y="1444752"/>
            <a:ext cx="411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46920" y="146304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D97706"/>
                </a:solidFill>
              </a:rPr>
              <a:t>gRPC Response: {has_record: false}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81160" y="1965960"/>
            <a:ext cx="26517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74151"/>
                </a:solidFill>
              </a:rPr>
              <a:t>Service B query db_rekam_medis. Jika pasien baru → has_record=false → lanjut. Jika sudah ada → tolak.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74320" y="3703320"/>
            <a:ext cx="2834640" cy="2148840"/>
          </a:xfrm>
          <a:prstGeom prst="rect">
            <a:avLst/>
          </a:prstGeom>
          <a:solidFill>
            <a:srgbClr val="DCFCE7"/>
          </a:solidFill>
          <a:ln w="1905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274320" y="3703320"/>
            <a:ext cx="411480" cy="411480"/>
          </a:xfrm>
          <a:prstGeom prst="rect">
            <a:avLst/>
          </a:prstGeom>
          <a:solidFill>
            <a:srgbClr val="16A34A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74320" y="3730752"/>
            <a:ext cx="411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" y="374904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6A34A"/>
                </a:solidFill>
              </a:rPr>
              <a:t>INSERT ke db_pendaftaran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5760" y="4251960"/>
            <a:ext cx="26517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74151"/>
                </a:solidFill>
              </a:rPr>
              <a:t>Service A simpan data pasien ke tabel patients di db_pendaftaran (PostgreSQL).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246120" y="3703320"/>
            <a:ext cx="2834640" cy="2148840"/>
          </a:xfrm>
          <a:prstGeom prst="rect">
            <a:avLst/>
          </a:prstGeom>
          <a:solidFill>
            <a:srgbClr val="FEE2E2"/>
          </a:solidFill>
          <a:ln w="1905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3246120" y="3703320"/>
            <a:ext cx="411480" cy="411480"/>
          </a:xfrm>
          <a:prstGeom prst="rect">
            <a:avLst/>
          </a:prstGeom>
          <a:solidFill>
            <a:srgbClr val="DC2626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246120" y="3730752"/>
            <a:ext cx="411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703320" y="374904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DC2626"/>
                </a:solidFill>
              </a:rPr>
              <a:t>Publish Event — ASYNC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337560" y="4251960"/>
            <a:ext cx="26517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74151"/>
                </a:solidFill>
              </a:rPr>
              <a:t>Service A publish event 'patient.registered' ke RabbitMQ. TIDAK menunggu Service B.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217920" y="3703320"/>
            <a:ext cx="2834640" cy="2148840"/>
          </a:xfrm>
          <a:prstGeom prst="rect">
            <a:avLst/>
          </a:prstGeom>
          <a:solidFill>
            <a:srgbClr val="DBEAFE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217920" y="3703320"/>
            <a:ext cx="411480" cy="411480"/>
          </a:xfrm>
          <a:prstGeom prst="rect">
            <a:avLst/>
          </a:prstGeom>
          <a:solidFill>
            <a:srgbClr val="2563EB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217920" y="3730752"/>
            <a:ext cx="411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7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675120" y="374904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563EB"/>
                </a:solidFill>
              </a:rPr>
              <a:t>Response 201 ke Frontend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309360" y="4251960"/>
            <a:ext cx="26517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74151"/>
                </a:solidFill>
              </a:rPr>
              <a:t>Service A return {success: true, patient_id: '...'} ke Frontend. User lihat konfirmasi.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189720" y="3703320"/>
            <a:ext cx="2834640" cy="2148840"/>
          </a:xfrm>
          <a:prstGeom prst="rect">
            <a:avLst/>
          </a:prstGeom>
          <a:solidFill>
            <a:srgbClr val="FEE2E2"/>
          </a:solidFill>
          <a:ln w="1905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9189720" y="3703320"/>
            <a:ext cx="411480" cy="411480"/>
          </a:xfrm>
          <a:prstGeom prst="rect">
            <a:avLst/>
          </a:prstGeom>
          <a:solidFill>
            <a:srgbClr val="DC2626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189720" y="3730752"/>
            <a:ext cx="411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8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646920" y="374904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DC2626"/>
                </a:solidFill>
              </a:rPr>
              <a:t>Service B Consume Event (Background)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281160" y="4251960"/>
            <a:ext cx="26517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74151"/>
                </a:solidFill>
              </a:rPr>
              <a:t>Service B consume event dari queue → INSERT draft rekam medis ke db_rekam_medis secara background.</a:t>
            </a:r>
          </a:p>
        </p:txBody>
      </p:sp>
      <p:sp>
        <p:nvSpPr>
          <p:cNvPr id="47" name="Rectangle 46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E3A8A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74320" y="6556248"/>
            <a:ext cx="116403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DBEAFE"/>
                </a:solidFill>
              </a:rPr>
              <a:t>MediSync • Jaringan Komputer Terapan 2025/2026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3F4F6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E3A8A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457200" cy="1280160"/>
          </a:xfrm>
          <a:prstGeom prst="rect">
            <a:avLst/>
          </a:prstGeom>
          <a:solidFill>
            <a:srgbClr val="2563EB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9144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3C5FD"/>
                </a:solidFill>
              </a:rPr>
              <a:t>BAB 4 — TEKNIK DEPLOYMENT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1148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Docker + Docker Compose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417320"/>
            <a:ext cx="5029200" cy="2286000"/>
          </a:xfrm>
          <a:prstGeom prst="rect">
            <a:avLst/>
          </a:prstGeom>
          <a:solidFill>
            <a:srgbClr val="DBEAFE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490472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3A8A"/>
                </a:solidFill>
              </a:rPr>
              <a:t>🐳  Mengapa Docker Compose?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783080"/>
            <a:ext cx="47548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74151"/>
                </a:solidFill>
              </a:rPr>
              <a:t>• Setiap service berjalan di container terisolasi
• Satu perintah menjalankan semua service:
  $ docker-compose up --build
• Tidak perlu install PostgreSQL/RabbitMQ manual
• Portabel: jalan di laptop manapun
• Health check: service menunggu dependency siap
• Internal network: service saling connect by name
• Environment variable untuk konfigurasi dinamis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0" y="1417320"/>
            <a:ext cx="6126480" cy="2286000"/>
          </a:xfrm>
          <a:prstGeom prst="rect">
            <a:avLst/>
          </a:prstGeom>
          <a:solidFill>
            <a:srgbClr val="F0F9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806440" y="1490472"/>
            <a:ext cx="5852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3A8A"/>
                </a:solidFill>
              </a:rPr>
              <a:t>📦  Container yang Berjalan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06440" y="1783080"/>
            <a:ext cx="58521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74151"/>
                </a:solidFill>
              </a:rPr>
              <a:t>┌─────────────────────────────────────────────┐
│  medisync-postgres    Port: 5432            │
│  medisync-rabbitmq    Port: 5672, 15672     │
│  medisync-service-b   Port: 4002, 50052     │
│  medisync-service-a   Port: 4001            │
│  medisync-frontend    Port: 3000            │
└─────────────────────────────────────────────┘
Semua terhubung dalam network: medisync-net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3840480"/>
            <a:ext cx="5029200" cy="2331720"/>
          </a:xfrm>
          <a:prstGeom prst="rect">
            <a:avLst/>
          </a:prstGeom>
          <a:solidFill>
            <a:srgbClr val="DCFCE7"/>
          </a:solidFill>
          <a:ln w="1905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3913632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6A34A"/>
                </a:solidFill>
              </a:rPr>
              <a:t>🔧  Multi-Stage Build (Go services)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4206240"/>
            <a:ext cx="4754880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74151"/>
                </a:solidFill>
              </a:rPr>
              <a:t>Stage 1 — Builder:
  FROM golang:1.21-alpine
  → Compile Go binary
Stage 2 — Runner:
  FROM alpine:3.19 (image ~5MB)
  → Copy binary saja, tidak ada source code
Hasilnya: image sangat kecil + aman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669280" y="3840480"/>
            <a:ext cx="6126480" cy="2331720"/>
          </a:xfrm>
          <a:prstGeom prst="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806440" y="3913632"/>
            <a:ext cx="5852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D97706"/>
                </a:solidFill>
              </a:rPr>
              <a:t>🌐  Akses Setelah Running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06440" y="4206240"/>
            <a:ext cx="5852160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74151"/>
                </a:solidFill>
              </a:rPr>
              <a:t>Frontend (React)   : http://localhost:3000
Service A REST     : http://localhost:4001
  - POST /api/patients
  - GET  /api/patients
Service B REST     : http://localhost:4002
  - GET  /api/records
  - GET  /api/records/:nik
RabbitMQ UI        : http://localhost:15672
  user: guest | pass: guest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E3A8A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74320" y="6556248"/>
            <a:ext cx="116403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DBEAFE"/>
                </a:solidFill>
              </a:rPr>
              <a:t>MediSync • Jaringan Komputer Terapan 2025/2026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3F4F6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E3A8A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457200" cy="1280160"/>
          </a:xfrm>
          <a:prstGeom prst="rect">
            <a:avLst/>
          </a:prstGeom>
          <a:solidFill>
            <a:srgbClr val="2563EB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9144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3C5FD"/>
                </a:solidFill>
              </a:rPr>
              <a:t>BAB 5 — BUKTI PENGGUNAAN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1148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Platform AI, Prompt &amp; Library yang Digunakan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417320"/>
            <a:ext cx="3840480" cy="2011680"/>
          </a:xfrm>
          <a:prstGeom prst="rect">
            <a:avLst/>
          </a:prstGeom>
          <a:solidFill>
            <a:srgbClr val="DBEAFE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490472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3A8A"/>
                </a:solidFill>
              </a:rPr>
              <a:t>🤖  Platform AI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783080"/>
            <a:ext cx="35661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74151"/>
                </a:solidFill>
              </a:rPr>
              <a:t>Claude Code (Anthropic)
Model: claude-sonnet-4-6
Diakses melalui:
• VSCode Extension: Claude Code
• claude.ai/code
Tugas AI dalam proyek ini:
• Perancangan arsitektur microservices
• Implementasi gRPC + RabbitMQ
• Setup Docker Compose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89120" y="1417320"/>
            <a:ext cx="7406640" cy="2011680"/>
          </a:xfrm>
          <a:prstGeom prst="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26280" y="1490472"/>
            <a:ext cx="7132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D97706"/>
                </a:solidFill>
              </a:rPr>
              <a:t>💬  Contoh Prompt yang Digunakan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26280" y="1783080"/>
            <a:ext cx="71323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74151"/>
                </a:solidFill>
              </a:rPr>
              <a:t>"Buatkan implementasi microservices Go + Gin dengan:
 - Service A (pendaftaran) + PostgreSQL db_pendaftaran
 - Service B (rekam medis) + PostgreSQL db_rekam_medis
 - gRPC untuk CheckPatientRecord (synchronous)
 - RabbitMQ untuk event patient.registered (async)
 - Docker Compose untuk semua service
 Pastikan database isolation antar-service."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3566160"/>
            <a:ext cx="5486400" cy="2468880"/>
          </a:xfrm>
          <a:prstGeom prst="rect">
            <a:avLst/>
          </a:prstGeom>
          <a:solidFill>
            <a:srgbClr val="DCFCE7"/>
          </a:solidFill>
          <a:ln w="1905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3639312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6A34A"/>
                </a:solidFill>
              </a:rPr>
              <a:t>📦  Library &amp; Package yang Digunakan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3931920"/>
            <a:ext cx="52120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74151"/>
                </a:solidFill>
              </a:rPr>
              <a:t>Go (Service A &amp; B):
  • github.com/gin-gonic/gin         → HTTP framework
  • github.com/gin-contrib/cors      → CORS middleware
  • github.com/lib/pq                → PostgreSQL driver
  • github.com/rabbitmq/amqp091-go   → RabbitMQ client
  • google.golang.org/grpc            → gRPC framework
  • google.golang.org/protobuf        → Protocol Buffers
  • github.com/google/uuid            → UUID generator
Frontend (React):
  • axios          → HTTP client
  • react, react-dom, vite → UI framework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26480" y="3566160"/>
            <a:ext cx="5669280" cy="2468880"/>
          </a:xfrm>
          <a:prstGeom prst="rect">
            <a:avLst/>
          </a:prstGeom>
          <a:solidFill>
            <a:srgbClr val="EDE9FE"/>
          </a:solidFill>
          <a:ln w="19050">
            <a:solidFill>
              <a:srgbClr val="9673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63640" y="3639312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9673A6"/>
                </a:solidFill>
              </a:rPr>
              <a:t>🔍  Bagian yang Dibantu AI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63640" y="3931920"/>
            <a:ext cx="5394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74151"/>
                </a:solidFill>
              </a:rPr>
              <a:t>✓ Perancangan arsitektur &amp; database isolation
✓ File .proto (contract gRPC)
✓ Implementasi gRPC server/client Go
✓ RabbitMQ producer/consumer Go
✓ Retry logic untuk koneksi saat startup
✓ Docker Compose multi-container dengan healthcheck
✓ Frontend React komponen form &amp; tabel
✓ Multi-stage Dockerfile untuk Go
✓ Materi presentasi &amp; diagram arsitektur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E3A8A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74320" y="6556248"/>
            <a:ext cx="116403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DBEAFE"/>
                </a:solidFill>
              </a:rPr>
              <a:t>MediSync • Jaringan Komputer Terapan 2025/2026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3A8A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0" cy="6858000"/>
          </a:xfrm>
          <a:prstGeom prst="rect">
            <a:avLst/>
          </a:prstGeom>
          <a:solidFill>
            <a:srgbClr val="2563EB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563EB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2563EB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7315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Kesimpulan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1417320"/>
            <a:ext cx="10058400" cy="36576"/>
          </a:xfrm>
          <a:prstGeom prst="rect">
            <a:avLst/>
          </a:prstGeom>
          <a:solidFill>
            <a:srgbClr val="2563EB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14400" y="1554480"/>
            <a:ext cx="457200" cy="502920"/>
          </a:xfrm>
          <a:prstGeom prst="rect">
            <a:avLst/>
          </a:prstGeom>
          <a:solidFill>
            <a:srgbClr val="2563EB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600200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08760" y="1600200"/>
            <a:ext cx="9601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FDBFE"/>
                </a:solidFill>
              </a:rPr>
              <a:t>Arsitektur microservices berhasil memisahkan layanan Pendaftaran dan Rekam Medis dengan database masing-masing yang benar-benar terisolasi.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14400" y="2423160"/>
            <a:ext cx="457200" cy="502920"/>
          </a:xfrm>
          <a:prstGeom prst="rect">
            <a:avLst/>
          </a:prstGeom>
          <a:solidFill>
            <a:srgbClr val="2563EB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2468880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08760" y="2468880"/>
            <a:ext cx="9601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FDBFE"/>
                </a:solidFill>
              </a:rPr>
              <a:t>gRPC digunakan untuk validasi real-time (synchronous): Service A memanggil CheckPatientRecord sebelum mendaftarkan pasien baru.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14400" y="3291840"/>
            <a:ext cx="457200" cy="502920"/>
          </a:xfrm>
          <a:prstGeom prst="rect">
            <a:avLst/>
          </a:prstGeom>
          <a:solidFill>
            <a:srgbClr val="2563EB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3337560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08760" y="3337560"/>
            <a:ext cx="9601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FDBFE"/>
                </a:solidFill>
              </a:rPr>
              <a:t>RabbitMQ digunakan untuk event-driven (asynchronous): event patient.registered dikirim tanpa memblok response ke user.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4400" y="4160520"/>
            <a:ext cx="457200" cy="502920"/>
          </a:xfrm>
          <a:prstGeom prst="rect">
            <a:avLst/>
          </a:prstGeom>
          <a:solidFill>
            <a:srgbClr val="2563EB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206240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206240"/>
            <a:ext cx="9601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FDBFE"/>
                </a:solidFill>
              </a:rPr>
              <a:t>Docker Compose mengorkestrasi semua service (Frontend, Service A, Service B, PostgreSQL, RabbitMQ) dalam satu network terisolasi.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14400" y="5029200"/>
            <a:ext cx="457200" cy="502920"/>
          </a:xfrm>
          <a:prstGeom prst="rect">
            <a:avLst/>
          </a:prstGeom>
          <a:solidFill>
            <a:srgbClr val="2563EB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5074920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08760" y="5074920"/>
            <a:ext cx="9601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FDBFE"/>
                </a:solidFill>
              </a:rPr>
              <a:t>Sistem dapat dijalankan dengan satu perintah: docker-compose up --build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5943600"/>
            <a:ext cx="10332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🏥  MediSync  —  Terima Kasih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